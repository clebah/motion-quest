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</p:sldIdLst>
  <p:sldSz cx="12192000" cy="6858000"/>
  <p:notesSz cx="6858000" cy="12192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Inconsolata" pitchFamily="49" charset="77"/>
      <p:regular r:id="rId14"/>
    </p:embeddedFont>
    <p:embeddedFont>
      <p:font typeface="Inconsolata Bold" pitchFamily="2" charset="77"/>
      <p:regular r:id="rId15"/>
      <p:bold r:id="rId16"/>
    </p:embeddedFont>
    <p:embeddedFont>
      <p:font typeface="Montserrat Black" panose="00000A00000000000000" pitchFamily="2" charset="77"/>
      <p:regular r:id="rId1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38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00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300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CA942-8BF0-53CC-A42F-D41AAD9F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4A0969-D287-EFCB-09CA-26B50F99E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A64E9-3CAA-8C26-06DB-51D7A9211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874D6-2E8E-778F-95DE-47EEDF8EDF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58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4EC8E-B15A-DCBF-19AB-11B30547F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CA1E6-C9D0-ACD7-5EE3-D4E3EBD04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D0662-F739-B537-B33A-B43A22148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FEBEF-610F-EE18-6372-E75678AA1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16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119715"/>
            <a:ext cx="3297454" cy="581839"/>
          </a:xfrm>
          <a:prstGeom prst="roundRect">
            <a:avLst>
              <a:gd name="adj" fmla="val 2654"/>
            </a:avLst>
          </a:prstGeom>
          <a:solidFill>
            <a:srgbClr val="E4E6E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" name="Text 1"/>
          <p:cNvSpPr/>
          <p:nvPr/>
        </p:nvSpPr>
        <p:spPr>
          <a:xfrm>
            <a:off x="5244118" y="5165309"/>
            <a:ext cx="3216322" cy="493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CLEBER SOUZA</a:t>
            </a:r>
            <a:endParaRPr lang="en-US" sz="1150" b="1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TENDÊNCIAS EM ENGENHARIA DE SOFTWARE – 26/2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PPGC - UFRGS</a:t>
            </a:r>
          </a:p>
          <a:p>
            <a:pPr marL="0" indent="0" algn="l">
              <a:lnSpc>
                <a:spcPct val="96000"/>
              </a:lnSpc>
              <a:buNone/>
            </a:pPr>
            <a:endParaRPr lang="en-US" sz="1150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5233360" y="187506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SDD + Harness Engineering na Prática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3339835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Um framework DE Spec Driven Development (SDD) </a:t>
            </a:r>
            <a:r>
              <a:rPr lang="en-US" sz="14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aplicado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 um projeto real — </a:t>
            </a:r>
            <a:r>
              <a:rPr lang="en-US" sz="1450" b="1" dirty="0" err="1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MotionQuest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uma Prova de Conceito que gera vídeos animados com IA que serve como base para demostração do SDD e Harness Engineering.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89187"/>
            <a:ext cx="1435659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15161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774879" y="1645841"/>
            <a:ext cx="181843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01 · FUNDAMENTOS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519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SDD Dentro de Harness Engineering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61818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Harness Engineering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19692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Camada que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governa o agente de IA em runtime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o que pode ler, executar e editar antes e depois de </a:t>
            </a:r>
            <a:r>
              <a:rPr lang="en-US" sz="14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cada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14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ação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08523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SDD: uma disciplina dentro da camada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466397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SDD transforma a intenção humana em um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artefato verificável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antes do código, reduzindo a ambiguidade e deixando um rastro auditável do que foi pedido e do que foi construído.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04615"/>
            <a:ext cx="1435659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15161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774879" y="1261269"/>
            <a:ext cx="181843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02 · POR QUE TLC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673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Por que o TLC Harness Toolkit?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41476"/>
            <a:ext cx="3514598" cy="32296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68183" y="256996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75881" y="3222923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Benchmark Comparativo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75881" y="3926880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SpecKit, Superpowers, TLC e OpenSpec foram comparados com um modelo sem framework. O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TLC venceu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em código e testes gerados.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441476"/>
            <a:ext cx="3514598" cy="3229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54067" y="256996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61766" y="322292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Tese do Ecossistema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61766" y="3631605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SDD chegou ao limite; o próximo passo é Harness Engineering. Spec sozinha não evita erros em runtime;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harness sim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441476"/>
            <a:ext cx="3514598" cy="32296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39952" y="256996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247650" y="322292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Aposta Pessoal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8247650" y="3631605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Harnesses nativos (Claude Code, Antigravity) devem internalizar essa governança. O SDD fica como documentação viva: o “quê” e o “porquê”.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350591"/>
            <a:ext cx="1133447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15161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Text 1"/>
          <p:cNvSpPr/>
          <p:nvPr/>
        </p:nvSpPr>
        <p:spPr>
          <a:xfrm>
            <a:off x="774879" y="2407245"/>
            <a:ext cx="151622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03 · PROJETO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71333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Motion Quest: O Projeto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587452"/>
            <a:ext cx="6296860" cy="9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Gera vídeos animados verticais (1m30–2min) a partir de fotos reais + roteiro, com arquitetura hexagonal e 2 workers desacoplados por contrato JSON (</a:t>
            </a:r>
            <a:r>
              <a:rPr lang="en-US" sz="14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manifest.json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7C02A-A2C1-8DD6-144C-8E51E43BC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F04F13-CF89-0B26-000C-C7A5B0AF8CE6}"/>
              </a:ext>
            </a:extLst>
          </p:cNvPr>
          <p:cNvSpPr/>
          <p:nvPr/>
        </p:nvSpPr>
        <p:spPr>
          <a:xfrm>
            <a:off x="661475" y="323166"/>
            <a:ext cx="1505076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15161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42CA3A-FD02-768A-7EB6-CD0DD4C30705}"/>
              </a:ext>
            </a:extLst>
          </p:cNvPr>
          <p:cNvSpPr/>
          <p:nvPr/>
        </p:nvSpPr>
        <p:spPr>
          <a:xfrm>
            <a:off x="713232" y="320040"/>
            <a:ext cx="24231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04 · SDD + </a:t>
            </a:r>
            <a:r>
              <a:rPr lang="en-US" sz="115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HARNESS</a:t>
            </a:r>
            <a:endParaRPr lang="en-US" sz="1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DDFA79-ED2F-2901-F87A-498E5B5F47BD}"/>
              </a:ext>
            </a:extLst>
          </p:cNvPr>
          <p:cNvSpPr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Setup do Harness</a:t>
            </a:r>
            <a:endParaRPr lang="en-US" sz="3700" dirty="0"/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88136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51617"/>
                </a:solidFill>
                <a:latin typeface="Inconsolata"/>
              </a:rPr>
              <a:t>Instalado </a:t>
            </a:r>
            <a:r>
              <a:rPr sz="1500" b="1">
                <a:solidFill>
                  <a:srgbClr val="151617"/>
                </a:solidFill>
                <a:latin typeface="Inconsolata Bold"/>
              </a:rPr>
              <a:t>@tech-leads-club/harness-toolkit</a:t>
            </a:r>
            <a:r>
              <a:rPr sz="1500" b="0">
                <a:solidFill>
                  <a:srgbClr val="151617"/>
                </a:solidFill>
                <a:latin typeface="Inconsolata"/>
              </a:rPr>
              <a:t> globalmente + Node atualizado para v24 (requisito mínimo)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1617"/>
                </a:solidFill>
                <a:latin typeface="Inconsolata Bold"/>
              </a:rPr>
              <a:t>harness-init</a:t>
            </a:r>
            <a:r>
              <a:rPr sz="1500" b="0">
                <a:solidFill>
                  <a:srgbClr val="151617"/>
                </a:solidFill>
                <a:latin typeface="Inconsolata"/>
              </a:rPr>
              <a:t> conectou o repo: grind, planGate, rules (regra custom test-before-stop), lessons, untrustedContent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6446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1617"/>
                </a:solidFill>
                <a:latin typeface="Montserrat Black"/>
              </a:rPr>
              <a:t>SEGURANÇA E NFRs INCORPORADOS SEM EU PEDIR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1504" y="2286000"/>
            <a:ext cx="40782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1617"/>
                </a:solidFill>
                <a:latin typeface="Montserrat Black"/>
              </a:rPr>
              <a:t>FLUXO SDD (skill tlc-spec-driven) — 4 FASES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60904"/>
            <a:ext cx="6446520" cy="3319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1617"/>
                </a:solidFill>
                <a:latin typeface="Inconsolata Bold"/>
              </a:rPr>
              <a:t>•  Piso não-configurável do harness</a:t>
            </a:r>
            <a:r>
              <a:rPr sz="1400" b="0">
                <a:solidFill>
                  <a:srgbClr val="151617"/>
                </a:solidFill>
                <a:latin typeface="Inconsolata"/>
              </a:rPr>
              <a:t> (vale sempre, em qualquer projeto): bloqueia comando destrutivo fora do projeto, verbo destrutivo com alvo não-resolvível, leitura de .env/~/.ssh/~/.aws/*.pem pro transcript, git push --force, e comandos de desligar/reiniciar a máquina — e a própria política do harness não é editável pelo agente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1617"/>
                </a:solidFill>
                <a:latin typeface="Inconsolata Bold"/>
              </a:rPr>
              <a:t>•  Ligado por padrão de fábrica, sem eu perguntar:</a:t>
            </a:r>
            <a:r>
              <a:rPr sz="1400" b="0">
                <a:solidFill>
                  <a:srgbClr val="151617"/>
                </a:solidFill>
                <a:latin typeface="Inconsolata"/>
              </a:rPr>
              <a:t> redação automática de segredos (mascara chave AWS/GitHub/Slack/Stripe/PEM/JWT antes de chegar ao modelo) e confirmação antes de comando shell destrutivo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1617"/>
                </a:solidFill>
                <a:latin typeface="Inconsolata Bold"/>
              </a:rPr>
              <a:t>•  Decisões de NFR no design da SPEC-003</a:t>
            </a:r>
            <a:r>
              <a:rPr sz="1400" b="0">
                <a:solidFill>
                  <a:srgbClr val="151617"/>
                </a:solidFill>
                <a:latin typeface="Inconsolata"/>
              </a:rPr>
              <a:t> (consequência dos requisitos, não RF escrito): bind só em 127.0.0.1, validação de tipo de arquivo no upload, limite de fotos validado nos dois lados (front+back), um job por vez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1504" y="2688336"/>
            <a:ext cx="4078224" cy="3127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51617"/>
                </a:solidFill>
                <a:latin typeface="Montserrat Black"/>
              </a:rPr>
              <a:t>01  Specify</a:t>
            </a:r>
            <a:r>
              <a:rPr sz="1400" b="0">
                <a:solidFill>
                  <a:srgbClr val="151617"/>
                </a:solidFill>
                <a:latin typeface="Inconsolata"/>
              </a:rPr>
              <a:t> — requisitos em EARS (RF-01 a RF-05), validados com o usuário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51617"/>
                </a:solidFill>
                <a:latin typeface="Montserrat Black"/>
              </a:rPr>
              <a:t>02  Design</a:t>
            </a:r>
            <a:r>
              <a:rPr sz="1400" b="0">
                <a:solidFill>
                  <a:srgbClr val="151617"/>
                </a:solidFill>
                <a:latin typeface="Inconsolata"/>
              </a:rPr>
              <a:t> — arquitetura, sequência, máquina de estados, schemas, erros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51617"/>
                </a:solidFill>
                <a:latin typeface="Montserrat Black"/>
              </a:rPr>
              <a:t>03  Tasks</a:t>
            </a:r>
            <a:r>
              <a:rPr sz="1400" b="0">
                <a:solidFill>
                  <a:srgbClr val="151617"/>
                </a:solidFill>
                <a:latin typeface="Inconsolata"/>
              </a:rPr>
              <a:t> — 11 tarefas atômicas, verificação e commit definidos antes de codar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1617"/>
                </a:solidFill>
                <a:latin typeface="Montserrat Black"/>
              </a:rPr>
              <a:t>04  Execute</a:t>
            </a:r>
            <a:r>
              <a:rPr sz="1400" b="0">
                <a:solidFill>
                  <a:srgbClr val="151617"/>
                </a:solidFill>
                <a:latin typeface="Inconsolata"/>
              </a:rPr>
              <a:t> — 1 tarefa → 1 gate verde → 1 commit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0336" y="2286000"/>
            <a:ext cx="10972" cy="3611880"/>
          </a:xfrm>
          <a:prstGeom prst="rect">
            <a:avLst/>
          </a:prstGeom>
          <a:solidFill>
            <a:srgbClr val="A2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6108192"/>
            <a:ext cx="10881360" cy="10972"/>
          </a:xfrm>
          <a:prstGeom prst="rect">
            <a:avLst/>
          </a:prstGeom>
          <a:solidFill>
            <a:srgbClr val="A2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6236208"/>
            <a:ext cx="108813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E5651"/>
                </a:solidFill>
                <a:latin typeface="Inconsolata Bold"/>
              </a:rPr>
              <a:t>NÚMEROS:  </a:t>
            </a:r>
            <a:r>
              <a:rPr sz="1800" b="1">
                <a:solidFill>
                  <a:srgbClr val="151617"/>
                </a:solidFill>
                <a:latin typeface="Montserrat Black"/>
              </a:rPr>
              <a:t>15 commits</a:t>
            </a:r>
            <a:r>
              <a:rPr sz="1800" b="0">
                <a:solidFill>
                  <a:srgbClr val="5E5651"/>
                </a:solidFill>
                <a:latin typeface="Inconsolata"/>
              </a:rPr>
              <a:t>  |  </a:t>
            </a:r>
            <a:r>
              <a:rPr sz="1800" b="1">
                <a:solidFill>
                  <a:srgbClr val="151617"/>
                </a:solidFill>
                <a:latin typeface="Montserrat Black"/>
              </a:rPr>
              <a:t>37 testes novos</a:t>
            </a:r>
            <a:r>
              <a:rPr sz="1800" b="0">
                <a:solidFill>
                  <a:srgbClr val="5E5651"/>
                </a:solidFill>
                <a:latin typeface="Inconsolata"/>
              </a:rPr>
              <a:t>  |  </a:t>
            </a:r>
            <a:r>
              <a:rPr sz="1800" b="1">
                <a:solidFill>
                  <a:srgbClr val="151617"/>
                </a:solidFill>
                <a:latin typeface="Montserrat Black"/>
              </a:rPr>
              <a:t>zero regressão</a:t>
            </a:r>
          </a:p>
        </p:txBody>
      </p:sp>
    </p:spTree>
    <p:extLst>
      <p:ext uri="{BB962C8B-B14F-4D97-AF65-F5344CB8AC3E}">
        <p14:creationId xmlns:p14="http://schemas.microsoft.com/office/powerpoint/2010/main" val="730672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F6AED-390F-6C6F-C45C-0EE443BE3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1F95E0-3E3B-271B-3B09-7F5B26193A3D}"/>
              </a:ext>
            </a:extLst>
          </p:cNvPr>
          <p:cNvSpPr/>
          <p:nvPr/>
        </p:nvSpPr>
        <p:spPr>
          <a:xfrm>
            <a:off x="661475" y="323166"/>
            <a:ext cx="1505076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15161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24757B-30B0-6AC9-17EE-69D6CBBA0C88}"/>
              </a:ext>
            </a:extLst>
          </p:cNvPr>
          <p:cNvSpPr/>
          <p:nvPr/>
        </p:nvSpPr>
        <p:spPr>
          <a:xfrm>
            <a:off x="713232" y="320040"/>
            <a:ext cx="24231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05 · AVALIAÇÃO</a:t>
            </a:r>
            <a:endParaRPr lang="en-US" sz="1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1B1FE7-5BBC-2A46-C25C-14AA19791193}"/>
              </a:ext>
            </a:extLst>
          </p:cNvPr>
          <p:cNvSpPr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Conclusão</a:t>
            </a:r>
            <a:endParaRPr lang="en-US" sz="3700" dirty="0"/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8813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51617"/>
                </a:solidFill>
                <a:latin typeface="Montserrat Black"/>
              </a:rPr>
              <a:t>SPEC-003</a:t>
            </a:r>
            <a:r>
              <a:rPr sz="1700" b="0">
                <a:solidFill>
                  <a:srgbClr val="151617"/>
                </a:solidFill>
                <a:latin typeface="Inconsolata"/>
              </a:rPr>
              <a:t> implementada, testada em </a:t>
            </a:r>
            <a:r>
              <a:rPr sz="1700" b="1">
                <a:solidFill>
                  <a:srgbClr val="151617"/>
                </a:solidFill>
                <a:latin typeface="Inconsolata Bold"/>
              </a:rPr>
              <a:t>MOCK</a:t>
            </a:r>
            <a:r>
              <a:rPr sz="1700" b="0">
                <a:solidFill>
                  <a:srgbClr val="151617"/>
                </a:solidFill>
                <a:latin typeface="Inconsolata"/>
              </a:rPr>
              <a:t> e validada em produção real (</a:t>
            </a:r>
            <a:r>
              <a:rPr sz="1700" b="1">
                <a:solidFill>
                  <a:srgbClr val="151617"/>
                </a:solidFill>
                <a:latin typeface="Inconsolata Bold"/>
              </a:rPr>
              <a:t>LIVE</a:t>
            </a:r>
            <a:r>
              <a:rPr sz="1700" b="0">
                <a:solidFill>
                  <a:srgbClr val="151617"/>
                </a:solidFill>
                <a:latin typeface="Inconsolata"/>
              </a:rPr>
              <a:t>): vídeo .mp4 real de 110MB entregue via UI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1617"/>
                </a:solidFill>
                <a:latin typeface="Inconsolata Bold"/>
              </a:rPr>
              <a:t>MOCK sozinho não bastava</a:t>
            </a:r>
            <a:r>
              <a:rPr sz="1600" b="0">
                <a:solidFill>
                  <a:srgbClr val="151617"/>
                </a:solidFill>
                <a:latin typeface="Inconsolata"/>
              </a:rPr>
              <a:t> — só o uso real revelou o que importava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304288"/>
            <a:ext cx="10881360" cy="10972"/>
          </a:xfrm>
          <a:prstGeom prst="rect">
            <a:avLst/>
          </a:prstGeom>
          <a:solidFill>
            <a:srgbClr val="A2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542032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1617"/>
                </a:solidFill>
                <a:latin typeface="Montserrat Black"/>
              </a:rPr>
              <a:t>PROVA EM PRODUÇÃO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71216"/>
            <a:ext cx="278892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151617"/>
                </a:solidFill>
                <a:latin typeface="Montserrat Black"/>
              </a:rPr>
              <a:t>110MB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85032"/>
            <a:ext cx="2788920" cy="795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51617"/>
                </a:solidFill>
                <a:latin typeface="Inconsolata Bold"/>
              </a:rPr>
              <a:t>vídeo .mp4 real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1617"/>
                </a:solidFill>
                <a:latin typeface="Inconsolata"/>
              </a:rPr>
              <a:t>entregue via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21024" y="2542032"/>
            <a:ext cx="10972" cy="2103120"/>
          </a:xfrm>
          <a:prstGeom prst="rect">
            <a:avLst/>
          </a:prstGeom>
          <a:solidFill>
            <a:srgbClr val="A2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77056" y="2542032"/>
            <a:ext cx="7662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1617"/>
                </a:solidFill>
                <a:latin typeface="Montserrat Black"/>
              </a:rPr>
              <a:t>3 BUGS ENCONTRADOS SÓ NO USO REAL</a:t>
            </a:r>
            <a:r>
              <a:rPr sz="1400" b="0">
                <a:solidFill>
                  <a:srgbClr val="5E5651"/>
                </a:solidFill>
                <a:latin typeface="Inconsolata"/>
              </a:rPr>
              <a:t>  (robustez, não lógica de negócio)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7056" y="2944368"/>
            <a:ext cx="7662672" cy="1682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1">
                <a:solidFill>
                  <a:srgbClr val="5E5651"/>
                </a:solidFill>
                <a:latin typeface="Montserrat Black"/>
              </a:rPr>
              <a:t>01  </a:t>
            </a:r>
            <a:r>
              <a:rPr sz="1650" b="1">
                <a:solidFill>
                  <a:srgbClr val="151617"/>
                </a:solidFill>
                <a:latin typeface="Montserrat Black"/>
              </a:rPr>
              <a:t>Servidor travava inteiro</a:t>
            </a:r>
            <a:r>
              <a:rPr sz="1550" b="0">
                <a:solidFill>
                  <a:srgbClr val="151617"/>
                </a:solidFill>
                <a:latin typeface="Inconsolata"/>
              </a:rPr>
              <a:t> — I/O síncrono bloqueando o event loop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1">
                <a:solidFill>
                  <a:srgbClr val="5E5651"/>
                </a:solidFill>
                <a:latin typeface="Montserrat Black"/>
              </a:rPr>
              <a:t>02  </a:t>
            </a:r>
            <a:r>
              <a:rPr sz="1650" b="1">
                <a:solidFill>
                  <a:srgbClr val="151617"/>
                </a:solidFill>
                <a:latin typeface="Montserrat Black"/>
              </a:rPr>
              <a:t>Upload “aos poucos” apagava fotos anteriores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E5651"/>
                </a:solidFill>
                <a:latin typeface="Montserrat Black"/>
              </a:rPr>
              <a:t>03  </a:t>
            </a:r>
            <a:r>
              <a:rPr sz="1650" b="1">
                <a:solidFill>
                  <a:srgbClr val="151617"/>
                </a:solidFill>
                <a:latin typeface="Montserrat Black"/>
              </a:rPr>
              <a:t>Polling infinito e silencioso após restart do servidor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828032"/>
            <a:ext cx="10881360" cy="10972"/>
          </a:xfrm>
          <a:prstGeom prst="rect">
            <a:avLst/>
          </a:prstGeom>
          <a:solidFill>
            <a:srgbClr val="A2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50474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1617"/>
                </a:solidFill>
                <a:latin typeface="Montserrat Black"/>
              </a:rPr>
              <a:t>CONHECIMENTO GERADO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394960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51617"/>
                </a:solidFill>
                <a:latin typeface="Montserrat Black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5449824"/>
            <a:ext cx="43434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51617"/>
                </a:solidFill>
                <a:latin typeface="Montserrat Black"/>
              </a:rPr>
              <a:t>lições no harness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51617"/>
                </a:solidFill>
                <a:latin typeface="Inconsolata"/>
              </a:rPr>
              <a:t>3 globais (qualquer projeto assíncrono/web) e 1 específica do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5394960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51617"/>
                </a:solidFill>
                <a:latin typeface="Montserrat Black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5449824"/>
            <a:ext cx="491947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51617"/>
                </a:solidFill>
                <a:latin typeface="Montserrat Black"/>
              </a:rPr>
              <a:t>memórias de projeto no Claude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51617"/>
                </a:solidFill>
                <a:latin typeface="Inconsolata"/>
              </a:rPr>
              <a:t>persistem entre sessões, independente do harness</a:t>
            </a:r>
          </a:p>
        </p:txBody>
      </p:sp>
    </p:spTree>
    <p:extLst>
      <p:ext uri="{BB962C8B-B14F-4D97-AF65-F5344CB8AC3E}">
        <p14:creationId xmlns:p14="http://schemas.microsoft.com/office/powerpoint/2010/main" val="2369130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56419"/>
            <a:ext cx="1204287" cy="269180"/>
          </a:xfrm>
          <a:prstGeom prst="roundRect">
            <a:avLst>
              <a:gd name="adj" fmla="val 2831"/>
            </a:avLst>
          </a:prstGeom>
          <a:noFill/>
          <a:ln w="6350">
            <a:solidFill>
              <a:srgbClr val="15161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Text 1"/>
          <p:cNvSpPr/>
          <p:nvPr/>
        </p:nvSpPr>
        <p:spPr>
          <a:xfrm>
            <a:off x="767735" y="609501"/>
            <a:ext cx="1601351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06 · CONCLUSÃO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891977"/>
            <a:ext cx="629686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Harness Engineering &gt; SDD Sozinho</a:t>
            </a:r>
            <a:endParaRPr lang="en-US" sz="3450" dirty="0"/>
          </a:p>
        </p:txBody>
      </p:sp>
      <p:sp>
        <p:nvSpPr>
          <p:cNvPr id="6" name="Shape 3"/>
          <p:cNvSpPr/>
          <p:nvPr/>
        </p:nvSpPr>
        <p:spPr>
          <a:xfrm>
            <a:off x="661475" y="2248595"/>
            <a:ext cx="6296860" cy="2847777"/>
          </a:xfrm>
          <a:prstGeom prst="roundRect">
            <a:avLst>
              <a:gd name="adj" fmla="val 268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2286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BR"/>
          </a:p>
        </p:txBody>
      </p:sp>
      <p:sp>
        <p:nvSpPr>
          <p:cNvPr id="7" name="Shape 4"/>
          <p:cNvSpPr/>
          <p:nvPr/>
        </p:nvSpPr>
        <p:spPr>
          <a:xfrm>
            <a:off x="667825" y="2254945"/>
            <a:ext cx="3142080" cy="1554857"/>
          </a:xfrm>
          <a:custGeom>
            <a:avLst/>
            <a:gdLst/>
            <a:ahLst/>
            <a:cxnLst/>
            <a:rect l="l" t="t" r="r" b="b"/>
            <a:pathLst>
              <a:path w="3142080" h="1554857">
                <a:moveTo>
                  <a:pt x="6350" y="0"/>
                </a:moveTo>
                <a:lnTo>
                  <a:pt x="3142080" y="0"/>
                </a:lnTo>
                <a:lnTo>
                  <a:pt x="3142080" y="1554857"/>
                </a:lnTo>
                <a:lnTo>
                  <a:pt x="0" y="1554857"/>
                </a:lnTo>
                <a:lnTo>
                  <a:pt x="0" y="6350"/>
                </a:lnTo>
                <a:arcTo wR="6350" hR="6350" stAng="10800000" swAng="5400000"/>
                <a:close/>
              </a:path>
            </a:pathLst>
          </a:custGeom>
          <a:solidFill>
            <a:srgbClr val="F8ECE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5"/>
          <p:cNvSpPr/>
          <p:nvPr/>
        </p:nvSpPr>
        <p:spPr>
          <a:xfrm>
            <a:off x="845025" y="2432149"/>
            <a:ext cx="278767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SDD rastreia o fluxo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5025" y="2808684"/>
            <a:ext cx="2787679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Spec → plano → PR deixa tudo auditável. Mas é só uma parte do harness.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809905" y="2254945"/>
            <a:ext cx="3142080" cy="1554857"/>
          </a:xfrm>
          <a:custGeom>
            <a:avLst/>
            <a:gdLst/>
            <a:ahLst/>
            <a:cxnLst/>
            <a:rect l="l" t="t" r="r" b="b"/>
            <a:pathLst>
              <a:path w="3142080" h="1554857">
                <a:moveTo>
                  <a:pt x="0" y="0"/>
                </a:moveTo>
                <a:lnTo>
                  <a:pt x="3135730" y="0"/>
                </a:lnTo>
                <a:arcTo wR="6350" hR="6350" stAng="16200000" swAng="5400000"/>
                <a:lnTo>
                  <a:pt x="3142080" y="1554857"/>
                </a:lnTo>
                <a:lnTo>
                  <a:pt x="0" y="1554857"/>
                </a:lnTo>
                <a:lnTo>
                  <a:pt x="0" y="0"/>
                </a:lnTo>
                <a:close/>
              </a:path>
            </a:pathLst>
          </a:custGeom>
          <a:solidFill>
            <a:srgbClr val="F8ECE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Shape 8"/>
          <p:cNvSpPr/>
          <p:nvPr/>
        </p:nvSpPr>
        <p:spPr>
          <a:xfrm>
            <a:off x="3809905" y="2254945"/>
            <a:ext cx="19050" cy="1554857"/>
          </a:xfrm>
          <a:prstGeom prst="roundRect">
            <a:avLst>
              <a:gd name="adj" fmla="val 39999"/>
            </a:avLst>
          </a:prstGeom>
          <a:solidFill>
            <a:srgbClr val="2E2F30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9"/>
          <p:cNvSpPr/>
          <p:nvPr/>
        </p:nvSpPr>
        <p:spPr>
          <a:xfrm>
            <a:off x="3987105" y="2432149"/>
            <a:ext cx="278767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Skills definem o como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987105" y="2808684"/>
            <a:ext cx="278767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spec diz </a:t>
            </a:r>
            <a:r>
              <a:rPr lang="en-US" sz="13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quê</a:t>
            </a: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; as skills garantem </a:t>
            </a:r>
            <a:r>
              <a:rPr lang="en-US" sz="13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como</a:t>
            </a: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construir bem.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67825" y="3809802"/>
            <a:ext cx="6284160" cy="1280220"/>
          </a:xfrm>
          <a:custGeom>
            <a:avLst/>
            <a:gdLst/>
            <a:ahLst/>
            <a:cxnLst/>
            <a:rect l="l" t="t" r="r" b="b"/>
            <a:pathLst>
              <a:path w="6284160" h="1280220">
                <a:moveTo>
                  <a:pt x="0" y="0"/>
                </a:moveTo>
                <a:lnTo>
                  <a:pt x="6284160" y="0"/>
                </a:lnTo>
                <a:lnTo>
                  <a:pt x="6284160" y="1273870"/>
                </a:lnTo>
                <a:arcTo wR="6350" hR="6350" stAng="0" swAng="5400000"/>
                <a:lnTo>
                  <a:pt x="6350" y="1280220"/>
                </a:lnTo>
                <a:arcTo wR="6350" hR="6350" stAng="5400000" swAng="5400000"/>
                <a:lnTo>
                  <a:pt x="0" y="0"/>
                </a:lnTo>
                <a:close/>
              </a:path>
            </a:pathLst>
          </a:custGeom>
          <a:solidFill>
            <a:srgbClr val="F8ECE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2"/>
          <p:cNvSpPr/>
          <p:nvPr/>
        </p:nvSpPr>
        <p:spPr>
          <a:xfrm>
            <a:off x="667825" y="3809802"/>
            <a:ext cx="6284160" cy="19050"/>
          </a:xfrm>
          <a:prstGeom prst="roundRect">
            <a:avLst>
              <a:gd name="adj" fmla="val 39999"/>
            </a:avLst>
          </a:prstGeom>
          <a:solidFill>
            <a:srgbClr val="2E2F30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3"/>
          <p:cNvSpPr/>
          <p:nvPr/>
        </p:nvSpPr>
        <p:spPr>
          <a:xfrm>
            <a:off x="845025" y="3987006"/>
            <a:ext cx="59297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plataforma absorve o harness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45025" y="4363541"/>
            <a:ext cx="592975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Governança migra para modelos e IDEs. O SDD segue como forma de documentar intenção.</a:t>
            </a:r>
            <a:endParaRPr lang="en-US" sz="13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5283200"/>
            <a:ext cx="6296860" cy="9741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5161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745</Words>
  <Application>Microsoft Macintosh PowerPoint</Application>
  <PresentationFormat>Widescreen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Inconsolata Bold</vt:lpstr>
      <vt:lpstr>Arial</vt:lpstr>
      <vt:lpstr>Consolas</vt:lpstr>
      <vt:lpstr>Montserrat Black</vt:lpstr>
      <vt:lpstr>Inconsolata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Cleber Souza</cp:lastModifiedBy>
  <cp:revision>3</cp:revision>
  <dcterms:created xsi:type="dcterms:W3CDTF">2026-09-23T01:48:01Z</dcterms:created>
  <dcterms:modified xsi:type="dcterms:W3CDTF">2026-09-23T04:39:25Z</dcterms:modified>
</cp:coreProperties>
</file>